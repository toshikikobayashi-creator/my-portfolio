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54864" cy="4572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B1A"/>
                </a:solidFill>
                <a:latin typeface="Hiragino Kaku Gothic ProN"/>
              </a:rPr>
              <a:t>HUMAN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Hiragino Kaku Gothic ProN"/>
              </a:rPr>
              <a:t>集客力を
歩かせよう。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C85C"/>
                </a:solidFill>
                <a:latin typeface="Hiragino Kaku Gothic ProN"/>
              </a:rPr>
              <a:t>ヒューマンアド 広告配信 ご提案書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86200"/>
            <a:ext cx="5029200" cy="36576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4FF"/>
                </a:solidFill>
                <a:latin typeface="Hiragino Kaku Gothic ProN"/>
              </a:rPr>
              <a:t>ご提案先：ラーメン店 御中</a:t>
            </a:r>
          </a:p>
          <a:p>
            <a:pPr algn="l"/>
            <a:r>
              <a:rPr sz="1300" b="0">
                <a:solidFill>
                  <a:srgbClr val="E8F4FF"/>
                </a:solidFill>
                <a:latin typeface="Hiragino Kaku Gothic ProN"/>
              </a:rPr>
              <a:t>提案日　：2026年3月10日</a:t>
            </a:r>
          </a:p>
          <a:p>
            <a:pPr algn="l"/>
            <a:r>
              <a:rPr sz="1300" b="0">
                <a:solidFill>
                  <a:srgbClr val="E8F4FF"/>
                </a:solidFill>
                <a:latin typeface="Hiragino Kaku Gothic ProN"/>
              </a:rPr>
              <a:t>有効期限：2026年4月9日（30日間）</a:t>
            </a:r>
          </a:p>
          <a:p>
            <a:pPr algn="l"/>
            <a:r>
              <a:rPr sz="1300" b="0">
                <a:solidFill>
                  <a:srgbClr val="E8F4FF"/>
                </a:solidFill>
                <a:latin typeface="Hiragino Kaku Gothic ProN"/>
              </a:rPr>
              <a:t>提案元　：Backstage Inc. ヒューマンアド事業部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1097280"/>
            <a:ext cx="3017520" cy="4114800"/>
          </a:xfrm>
          <a:prstGeom prst="rect">
            <a:avLst/>
          </a:prstGeom>
          <a:solidFill>
            <a:srgbClr val="1A3A4A"/>
          </a:solidFill>
          <a:ln w="1905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4630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Hiragino Kaku Gothic ProN"/>
              </a:rP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6517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85C"/>
                </a:solidFill>
                <a:latin typeface="Hiragino Kaku Gothic ProN"/>
              </a:rPr>
              <a:t>32インチ LED
バックパック広告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5204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4FF"/>
                </a:solidFill>
                <a:latin typeface="Hiragino Kaku Gothic ProN"/>
              </a:rPr>
              <a:t>✓ 渋谷・新宿等 繁華街を歩行</a:t>
            </a:r>
          </a:p>
          <a:p>
            <a:pPr algn="l"/>
            <a:r>
              <a:rPr sz="1100" b="0">
                <a:solidFill>
                  <a:srgbClr val="E8F4FF"/>
                </a:solidFill>
                <a:latin typeface="Hiragino Kaku Gothic ProN"/>
              </a:rPr>
              <a:t>✓ 最大30,000人/時間へリーチ</a:t>
            </a:r>
          </a:p>
          <a:p>
            <a:pPr algn="l"/>
            <a:r>
              <a:rPr sz="1100" b="0">
                <a:solidFill>
                  <a:srgbClr val="E8F4FF"/>
                </a:solidFill>
                <a:latin typeface="Hiragino Kaku Gothic ProN"/>
              </a:rPr>
              <a:t>✓ アドトラックの1/10の低価格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本日のご提案内容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Kaku Gothic Pro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024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Kaku Gothic ProN"/>
              </a:rPr>
              <a:t>貴店の課題と機会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集客コストと効果の課題を整理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11247120" cy="9144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50292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73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Kaku Gothic ProN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77393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Kaku Gothic ProN"/>
              </a:rPr>
              <a:t>ヒューマンアドとは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02996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サービス概要・強み・仕様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11247120" cy="9144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05456"/>
            <a:ext cx="50292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237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Kaku Gothic ProN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523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Kaku Gothic ProN"/>
              </a:rPr>
              <a:t>他媒体との比較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7797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アドトラック・チラシとの違い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27248"/>
            <a:ext cx="11247120" cy="9144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55264"/>
            <a:ext cx="50292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735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Kaku Gothic ProN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273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Kaku Gothic ProN"/>
              </a:rPr>
              <a:t>ご提案プランと料金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529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飲食店向けおすすめプラン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77056"/>
            <a:ext cx="11247120" cy="9144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2335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Kaku Gothic ProN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0233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Kaku Gothic ProN"/>
              </a:rPr>
              <a:t>ROIシミュレーション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279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客単価¥1,000での収益予測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26864"/>
            <a:ext cx="11247120" cy="9144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754879"/>
            <a:ext cx="50292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73167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Kaku Gothic ProN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77316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Kaku Gothic ProN"/>
              </a:rPr>
              <a:t>実施スケジュール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02919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最短翌日から配信開始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76671"/>
            <a:ext cx="11247120" cy="9144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504688"/>
            <a:ext cx="502920" cy="50292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2297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iragino Kaku Gothic ProN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552297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iragino Kaku Gothic ProN"/>
              </a:rPr>
              <a:t>次のステップ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577900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お申し込みまでの流れ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01  貴店の課題と機会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394960" cy="5212080"/>
          </a:xfrm>
          <a:prstGeom prst="rect">
            <a:avLst/>
          </a:prstGeom>
          <a:solidFill>
            <a:srgbClr val="1A3A4A"/>
          </a:solidFill>
          <a:ln w="19050">
            <a:solidFill>
              <a:srgbClr val="E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Hiragino Kaku Gothic ProN"/>
              </a:rPr>
              <a:t>❌  現状の課題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チラシは配っても効果が見えにくい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SNS広告は設定が複雑でコストが読めない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ランチタイムに近隣からの来店が少ない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「知っているけど行ったことがない」
層への接点がない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繁忙期だけ集中して告知したいが
短期対応できる媒体がない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960120"/>
            <a:ext cx="5394960" cy="5212080"/>
          </a:xfrm>
          <a:prstGeom prst="rect">
            <a:avLst/>
          </a:prstGeom>
          <a:solidFill>
            <a:srgbClr val="1A3A4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241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Hiragino Kaku Gothic ProN"/>
              </a:rPr>
              <a:t>✅  ヒューマンアドで解決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通行人に「直接」リーチ。視覚的
インパクトで記憶に残る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最短翌日から配信。効果が出なければ
即停止できる柔軟さ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ランチ・夕方など時間帯を指定して
近隣の人に集中アプローチ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9776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SNS投稿を誘発する「撮られる広告」
で二次拡散も期待できる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800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Hiragino Kaku Gothic ProN"/>
              </a:rPr>
              <a:t>▶  1日¥15,000〜の低価格で試せる
チラシ代わりの即効性媒体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02  ヒューマンアドとは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18872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Hiragino Kaku Gothic ProN"/>
              </a:rPr>
              <a:t>スタッフが32インチの大型LEDディスプレイを背負って、ターゲットエリアを歩行する
まったく新しい「モバイル × デジタル × 人力」の屋外広告サービスです。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3657600" cy="2926080"/>
          </a:xfrm>
          <a:prstGeom prst="rect">
            <a:avLst/>
          </a:prstGeom>
          <a:solidFill>
            <a:srgbClr val="1A3A4A"/>
          </a:solidFill>
          <a:ln w="1905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Hiragino Kaku Gothic ProN"/>
              </a:rPr>
              <a:t>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85C"/>
                </a:solidFill>
                <a:latin typeface="Hiragino Kaku Gothic ProN"/>
              </a:rPr>
              <a:t>モバイル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F"/>
                </a:solidFill>
                <a:latin typeface="Hiragino Kaku Gothic ProN"/>
              </a:rPr>
              <a:t>車が入れない
歩行者エリアも配信可能
モール・公園・祭会場でも対応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331720"/>
            <a:ext cx="3657600" cy="2926080"/>
          </a:xfrm>
          <a:prstGeom prst="rect">
            <a:avLst/>
          </a:prstGeom>
          <a:solidFill>
            <a:srgbClr val="1A3A4A"/>
          </a:solidFill>
          <a:ln w="1905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Hiragino Kaku Gothic ProN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85C"/>
                </a:solidFill>
                <a:latin typeface="Hiragino Kaku Gothic ProN"/>
              </a:rPr>
              <a:t>即時対応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7033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F"/>
                </a:solidFill>
                <a:latin typeface="Hiragino Kaku Gothic ProN"/>
              </a:rPr>
              <a:t>最短翌日から配信開始
思い立ったらすぐ実施
イベント直前でも間に合う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331720"/>
            <a:ext cx="3657600" cy="2926080"/>
          </a:xfrm>
          <a:prstGeom prst="rect">
            <a:avLst/>
          </a:prstGeom>
          <a:solidFill>
            <a:srgbClr val="1A3A4A"/>
          </a:solidFill>
          <a:ln w="1905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Hiragino Kaku Gothic ProN"/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85C"/>
                </a:solidFill>
                <a:latin typeface="Hiragino Kaku Gothic ProN"/>
              </a:rPr>
              <a:t>低価格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F"/>
                </a:solidFill>
                <a:latin typeface="Hiragino Kaku Gothic ProN"/>
              </a:rPr>
              <a:t>1日¥15,000〜
アドトラックの1/10以下
スモールスタートで検証可能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40680"/>
            <a:ext cx="11430000" cy="868680"/>
          </a:xfrm>
          <a:prstGeom prst="rect">
            <a:avLst/>
          </a:prstGeom>
          <a:solidFill>
            <a:srgbClr val="0A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85C"/>
                </a:solidFill>
                <a:latin typeface="Hiragino Kaku Gothic ProN"/>
              </a:rPr>
              <a:t>【機材仕様】  Jiatean JTA-WT32-BA  |  32インチ LEDディスプレイ  |  高輝度・全天候対応  |  動画・静止画スライドショー対応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03  他媒体との比較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01168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784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Kaku Gothic ProN"/>
              </a:rPr>
              <a:t>比較項目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960120"/>
            <a:ext cx="2194560" cy="4572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978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Kaku Gothic ProN"/>
              </a:rPr>
              <a:t>ヒューマンアド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2103120" cy="4572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784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Kaku Gothic ProN"/>
              </a:rPr>
              <a:t>アドトラック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960120"/>
            <a:ext cx="2103120" cy="4572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9784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Kaku Gothic ProN"/>
              </a:rPr>
              <a:t>チラシ配布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960120"/>
            <a:ext cx="2651760" cy="4572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9784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Kaku Gothic ProN"/>
              </a:rPr>
              <a:t>SNS広告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63040"/>
            <a:ext cx="201168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9" y="151790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1日あたり費用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463040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79" y="15179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¥15,000〜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463040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517904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¥150,000〜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463040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517904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¥5,000〜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463040"/>
            <a:ext cx="265176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5179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¥3,000〜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66544"/>
            <a:ext cx="201168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59" y="21214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展開スピード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2066544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79" y="21214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翌日〜即日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066544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121408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1週間〜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2066544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121408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2〜3日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2066544"/>
            <a:ext cx="265176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21214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即日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670048"/>
            <a:ext cx="201168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27249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ターゲット精度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2670048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68879" y="27249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エリア+時間帯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2670048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72491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エリア指定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03720" y="2670048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272491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近隣限定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2670048"/>
            <a:ext cx="265176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27249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属性指定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273552"/>
            <a:ext cx="201168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59" y="332841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視覚的インパクト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23160" y="3273552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68879" y="33284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◎ 大（32インチ）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60" y="3273552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0" y="3328416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◎ 大（車体）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3273552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328416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△ 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3273552"/>
            <a:ext cx="265176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3284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△ 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877056"/>
            <a:ext cx="201168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" y="3931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SNS拡散効果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3877056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68879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◎ 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09160" y="3877056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0" y="393192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△ 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03720" y="3877056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93192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✕ なし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98280" y="3877056"/>
            <a:ext cx="265176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◎ 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480560"/>
            <a:ext cx="201168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59" y="45354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規制リスク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23160" y="4480560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68879" y="45354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◎ 対象外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4480560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0" y="4535424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✕ 強化中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4480560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49440" y="4535424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○ 低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98280" y="4480560"/>
            <a:ext cx="265176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0" y="45354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○ 低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5084064"/>
            <a:ext cx="201168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59" y="51389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歩行者エリア対応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23160" y="5084064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68879" y="51389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◎ 可能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09160" y="5084064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0" y="5138928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✕ 不可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03720" y="5084064"/>
            <a:ext cx="210312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49440" y="5138928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○ 可能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5084064"/>
            <a:ext cx="2651760" cy="566928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0" y="5138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— 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687568"/>
            <a:ext cx="201168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59" y="57424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効果の可視性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23160" y="5687568"/>
            <a:ext cx="2194560" cy="566928"/>
          </a:xfrm>
          <a:prstGeom prst="rect">
            <a:avLst/>
          </a:prstGeom>
          <a:solidFill>
            <a:srgbClr val="1E4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68879" y="5742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85C"/>
                </a:solidFill>
                <a:latin typeface="Hiragino Kaku Gothic ProN"/>
              </a:rPr>
              <a:t>○ 推定リーチ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09160" y="5687568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54880" y="574243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○ 推定リーチ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903720" y="5687568"/>
            <a:ext cx="210312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949440" y="574243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✕ 不明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98280" y="5687568"/>
            <a:ext cx="2651760" cy="56692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44000" y="5742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Kaku Gothic ProN"/>
              </a:rPr>
              <a:t>◎ 数値管理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04  ご提案プランと料金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657600" cy="5303520"/>
          </a:xfrm>
          <a:prstGeom prst="rect">
            <a:avLst/>
          </a:prstGeom>
          <a:solidFill>
            <a:srgbClr val="1A3A4A"/>
          </a:solidFill>
          <a:ln w="1270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24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F"/>
                </a:solidFill>
                <a:latin typeface="Hiragino Kaku Gothic ProN"/>
              </a:rPr>
              <a:t>まず試したい方に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Kaku Gothic ProN"/>
              </a:rPr>
              <a:t>お試しプラン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85C"/>
                </a:solidFill>
                <a:latin typeface="Hiragino Kaku Gothic ProN"/>
              </a:rPr>
              <a:t>¥15,000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F"/>
                </a:solidFill>
                <a:latin typeface="Hiragino Kaku Gothic ProN"/>
              </a:rPr>
              <a:t>（税抜 / 1日）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3291840" cy="36576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スタッフ 1名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配信時間 2時間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エリア：店舗周辺500m圏内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コンテンツ：お客様ご提供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推定リーチ：約4,000人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960120"/>
            <a:ext cx="3657600" cy="5303520"/>
          </a:xfrm>
          <a:prstGeom prst="rect">
            <a:avLst/>
          </a:prstGeom>
          <a:solidFill>
            <a:srgbClr val="1E421E"/>
          </a:solidFill>
          <a:ln w="31750">
            <a:solidFill>
              <a:srgbClr val="FFC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79" y="914400"/>
            <a:ext cx="2194560" cy="347472"/>
          </a:xfrm>
          <a:prstGeom prst="rect">
            <a:avLst/>
          </a:prstGeom>
          <a:solidFill>
            <a:srgbClr val="FFC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79" y="9235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027"/>
                </a:solidFill>
                <a:latin typeface="Hiragino Kaku Gothic ProN"/>
              </a:rPr>
              <a:t>★ 最もおすすめ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85C"/>
                </a:solidFill>
                <a:latin typeface="Hiragino Kaku Gothic ProN"/>
              </a:rPr>
              <a:t>ランチ集客プラン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187451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85C"/>
                </a:solidFill>
                <a:latin typeface="Hiragino Kaku Gothic ProN"/>
              </a:rPr>
              <a:t>¥25,000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F"/>
                </a:solidFill>
                <a:latin typeface="Hiragino Kaku Gothic ProN"/>
              </a:rPr>
              <a:t>（税抜 / 1日）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834640"/>
            <a:ext cx="3291840" cy="36576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スタッフ 1名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配信時間 4時間（11時〜15時）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エリア：駅周辺〜店舗導線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コンテンツ：弊社制作サポート付き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54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推定リーチ：約10,000人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960120"/>
            <a:ext cx="3657600" cy="5303520"/>
          </a:xfrm>
          <a:prstGeom prst="rect">
            <a:avLst/>
          </a:prstGeom>
          <a:solidFill>
            <a:srgbClr val="1A3A4A"/>
          </a:solidFill>
          <a:ln w="1270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024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F"/>
                </a:solidFill>
                <a:latin typeface="Hiragino Kaku Gothic ProN"/>
              </a:rPr>
              <a:t>週末集中で最大効果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Kaku Gothic ProN"/>
              </a:rPr>
              <a:t>週末フルプラン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187451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85C"/>
                </a:solidFill>
                <a:latin typeface="Hiragino Kaku Gothic ProN"/>
              </a:rPr>
              <a:t>¥45,000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F"/>
                </a:solidFill>
                <a:latin typeface="Hiragino Kaku Gothic ProN"/>
              </a:rPr>
              <a:t>（税抜 / 1日）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59" y="2834640"/>
            <a:ext cx="3291840" cy="36576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2926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スタッフ 2名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配信時間 4時間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3840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エリア：複数ルートで同時配信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コンテンツ：弊社制作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9" y="4754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✓  推定リーチ：約20,000人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※ 表示料金はすべて税抜。消費税10%が別途かかります。コンテンツ制作費は別途お見積り。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Hiragino Kaku Gothic ProN"/>
              </a:rPr>
              <a:t>05  ROIシミュレーション（客単価 ¥1,000 ラーメン店想定）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5C"/>
                </a:solidFill>
                <a:latin typeface="Hiragino Kaku Gothic ProN"/>
              </a:rPr>
              <a:t>■ ランチ集客プランの場合（¥25,000/日）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7589520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538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5C"/>
                </a:solidFill>
                <a:latin typeface="Hiragino Kaku Gothic ProN"/>
              </a:rPr>
              <a:t>推定通行人数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465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Hiragino Kaku Gothic ProN"/>
              </a:rPr>
              <a:t>駅周辺エリア（平日ランチ）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27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Hiragino Kaku Gothic ProN"/>
              </a:rPr>
              <a:t>10,000人 / 4時間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6B1A"/>
                </a:solidFill>
                <a:latin typeface="Hiragino Kaku Gothic ProN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7589520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5C"/>
                </a:solidFill>
                <a:latin typeface="Hiragino Kaku Gothic ProN"/>
              </a:rPr>
              <a:t>視認率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151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Hiragino Kaku Gothic ProN"/>
              </a:rPr>
              <a:t>LEDディスプレイへの目視率（推定）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395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Hiragino Kaku Gothic ProN"/>
              </a:rPr>
              <a:t>× 20%  →  2,000人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71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6B1A"/>
                </a:solidFill>
                <a:latin typeface="Hiragino Kaku Gothic ProN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7589520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912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5C"/>
                </a:solidFill>
                <a:latin typeface="Hiragino Kaku Gothic ProN"/>
              </a:rPr>
              <a:t>有効記憶率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838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Hiragino Kaku Gothic ProN"/>
              </a:rPr>
              <a:t>広告内容を記憶した割合（推定）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644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Hiragino Kaku Gothic ProN"/>
              </a:rPr>
              <a:t>× 25%  →  500人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6B1A"/>
                </a:solidFill>
                <a:latin typeface="Hiragino Kaku Gothic ProN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59"/>
            <a:ext cx="7589520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5993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5C"/>
                </a:solidFill>
                <a:latin typeface="Hiragino Kaku Gothic ProN"/>
              </a:rPr>
              <a:t>来店転換率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525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Hiragino Kaku Gothic ProN"/>
              </a:rPr>
              <a:t>記憶後に来店した割合（飲食業推定）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13308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Hiragino Kaku Gothic ProN"/>
              </a:rPr>
              <a:t>× 3%   →  15人/日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7091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6B1A"/>
                </a:solidFill>
                <a:latin typeface="Hiragino Kaku Gothic ProN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7589520" cy="68580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85C"/>
                </a:solidFill>
                <a:latin typeface="Hiragino Kaku Gothic ProN"/>
              </a:rPr>
              <a:t>売上効果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2212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Hiragino Kaku Gothic ProN"/>
              </a:rPr>
              <a:t>来店者 × 客単価 ¥1,000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001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Hiragino Kaku Gothic ProN"/>
              </a:rPr>
              <a:t>= ¥15,000 / 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960120"/>
            <a:ext cx="3611880" cy="5257800"/>
          </a:xfrm>
          <a:prstGeom prst="rect">
            <a:avLst/>
          </a:prstGeom>
          <a:solidFill>
            <a:srgbClr val="1E421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024128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Hiragino Kaku Gothic ProN"/>
              </a:rPr>
              <a:t>ROI 試算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広告費用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508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Hiragino Kaku Gothic ProN"/>
              </a:rPr>
              <a:t>¥25,000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1911095"/>
            <a:ext cx="3383280" cy="1828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1日売上効果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240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Hiragino Kaku Gothic ProN"/>
              </a:rPr>
              <a:t>¥15,000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642616"/>
            <a:ext cx="3383280" cy="1828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3日間実施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Hiragino Kaku Gothic ProN"/>
              </a:rPr>
              <a:t>¥45,000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374136"/>
            <a:ext cx="3383280" cy="1828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3日間効果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703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Hiragino Kaku Gothic ProN"/>
              </a:rPr>
              <a:t>¥45,000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4105656"/>
            <a:ext cx="3383280" cy="1828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ROI（3日）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85C"/>
                </a:solidFill>
                <a:latin typeface="Hiragino Kaku Gothic ProN"/>
              </a:rPr>
              <a:t>80%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4837176"/>
            <a:ext cx="3383280" cy="1828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損益分岐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5166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C85C"/>
                </a:solidFill>
                <a:latin typeface="Hiragino Kaku Gothic ProN"/>
              </a:rPr>
              <a:t>来店 25人〜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5568696"/>
            <a:ext cx="3383280" cy="1828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※ 数値は推定値。エリア・時間帯・コンテンツ品質により変動します。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06  実施スケジュール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85C"/>
                </a:solidFill>
                <a:latin typeface="Hiragino Kaku Gothic ProN"/>
              </a:rPr>
              <a:t>最短翌日から配信開始できます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36576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1536192"/>
            <a:ext cx="320040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C85C"/>
                </a:solidFill>
                <a:latin typeface="Hiragino Kaku Gothic ProN"/>
              </a:rPr>
              <a:t>D-3以上前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17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Kaku Gothic ProN"/>
              </a:rPr>
              <a:t>お申し込み・ヒアリング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470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・希望エリア・日時・配信内容をご確認
・コンテンツ素材のご提供またはご相談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560320"/>
            <a:ext cx="36576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40" y="2450592"/>
            <a:ext cx="320040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68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C85C"/>
                </a:solidFill>
                <a:latin typeface="Hiragino Kaku Gothic ProN"/>
              </a:rPr>
              <a:t>D-2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4323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Kaku Gothic ProN"/>
              </a:rPr>
              <a:t>コンテンツ確認・最終調整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7614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・配信データの確認・テスト表示
・ルート・タイムラインの最終確定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474720"/>
            <a:ext cx="36576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34440" y="3364992"/>
            <a:ext cx="320040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C85C"/>
                </a:solidFill>
                <a:latin typeface="Hiragino Kaku Gothic ProN"/>
              </a:rPr>
              <a:t>D-1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467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Kaku Gothic ProN"/>
              </a:rPr>
              <a:t>機材・スタッフ準備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675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・機材チェック・充電
・スタッフへのブリーフィング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89120"/>
            <a:ext cx="36576" cy="914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34440" y="4279392"/>
            <a:ext cx="320040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9767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C85C"/>
                </a:solidFill>
                <a:latin typeface="Hiragino Kaku Gothic ProN"/>
              </a:rPr>
              <a:t>当日(D)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6110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Kaku Gothic ProN"/>
              </a:rPr>
              <a:t>配信実施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5902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・指定エリアを歩行しながら配信
・状況報告（写真・動画をSlack/メール共有）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303520"/>
            <a:ext cx="36576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34440" y="5193792"/>
            <a:ext cx="320040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21207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C85C"/>
                </a:solidFill>
                <a:latin typeface="Hiragino Kaku Gothic ProN"/>
              </a:rPr>
              <a:t>D+1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7550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iragino Kaku Gothic ProN"/>
              </a:rPr>
              <a:t>効果測定レポート提出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5046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・推定リーチ数・配信実績レポートをご送付
・次回施策のご提案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07  次のステップ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1097280"/>
          </a:xfrm>
          <a:prstGeom prst="rect">
            <a:avLst/>
          </a:prstGeom>
          <a:solidFill>
            <a:srgbClr val="1E421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85C"/>
                </a:solidFill>
                <a:latin typeface="Hiragino Kaku Gothic ProN"/>
              </a:rPr>
              <a:t>今すぐ「お試しプラン（¥15,000〜）」からスタートできます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F"/>
                </a:solidFill>
                <a:latin typeface="Hiragino Kaku Gothic ProN"/>
              </a:rPr>
              <a:t>コンテンツは貴店のInstagram画像・メニュー写真でOK！初回は弊社がサポートします。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743200" cy="2560320"/>
          </a:xfrm>
          <a:prstGeom prst="rect">
            <a:avLst/>
          </a:prstGeom>
          <a:solidFill>
            <a:srgbClr val="1A3A4A"/>
          </a:solidFill>
          <a:ln w="1270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225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Kaku Gothic ProN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85C"/>
                </a:solidFill>
                <a:latin typeface="Hiragino Kaku Gothic ProN"/>
              </a:rPr>
              <a:t>ご連絡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本資料をご確認の上、下記連絡先へご連絡ください。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86000"/>
            <a:ext cx="2743200" cy="2560320"/>
          </a:xfrm>
          <a:prstGeom prst="rect">
            <a:avLst/>
          </a:prstGeom>
          <a:solidFill>
            <a:srgbClr val="1A3A4A"/>
          </a:solidFill>
          <a:ln w="1270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286000"/>
            <a:ext cx="274320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225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Kaku Gothic ProN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85C"/>
                </a:solidFill>
                <a:latin typeface="Hiragino Kaku Gothic ProN"/>
              </a:rPr>
              <a:t>ヒアリング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004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ご希望日時・エリア・コンテンツについてご確認します（30分程度）。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743200" cy="2560320"/>
          </a:xfrm>
          <a:prstGeom prst="rect">
            <a:avLst/>
          </a:prstGeom>
          <a:solidFill>
            <a:srgbClr val="1A3A4A"/>
          </a:solidFill>
          <a:ln w="1270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274320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3225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Kaku Gothic ProN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85C"/>
                </a:solidFill>
                <a:latin typeface="Hiragino Kaku Gothic ProN"/>
              </a:rPr>
              <a:t>お見積り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正式なお見積書を発行します（無料）。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286000"/>
            <a:ext cx="2743200" cy="2560320"/>
          </a:xfrm>
          <a:prstGeom prst="rect">
            <a:avLst/>
          </a:prstGeom>
          <a:solidFill>
            <a:srgbClr val="1A3A4A"/>
          </a:solidFill>
          <a:ln w="1270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286000"/>
            <a:ext cx="274320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3225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Kaku Gothic ProN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85C"/>
                </a:solidFill>
                <a:latin typeface="Hiragino Kaku Gothic ProN"/>
              </a:rPr>
              <a:t>配信開始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20040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Hiragino Kaku Gothic ProN"/>
              </a:rPr>
              <a:t>ご入金確認後、最短翌日から配信をスタートします。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solidFill>
            <a:srgbClr val="1A3A4A"/>
          </a:solidFill>
          <a:ln w="12700">
            <a:solidFill>
              <a:srgbClr val="E8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38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85C"/>
                </a:solidFill>
                <a:latin typeface="Hiragino Kaku Gothic ProN"/>
              </a:rPr>
              <a:t>お問い合わせ先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6811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4FF"/>
                </a:solidFill>
                <a:latin typeface="Hiragino Kaku Gothic ProN"/>
              </a:rPr>
              <a:t>Backstage Inc.  ヒューマンアド事業部</a:t>
            </a:r>
          </a:p>
          <a:p>
            <a:pPr algn="l"/>
            <a:r>
              <a:rPr sz="1200" b="0">
                <a:solidFill>
                  <a:srgbClr val="E8F4FF"/>
                </a:solidFill>
                <a:latin typeface="Hiragino Kaku Gothic ProN"/>
              </a:rPr>
              <a:t>Email: info@backstage-inc.example.com   |   Tel: 03-XXXX-XXXX</a:t>
            </a:r>
          </a:p>
          <a:p>
            <a:pPr algn="l"/>
            <a:r>
              <a:rPr sz="1200" b="0">
                <a:solidFill>
                  <a:srgbClr val="E8F4FF"/>
                </a:solidFill>
                <a:latin typeface="Hiragino Kaku Gothic ProN"/>
              </a:rPr>
              <a:t>営業時間: 平日 10:00〜18:00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iragino Kaku Gothic ProN"/>
              </a:rPr>
              <a:t>Appendix  料金オプション一覧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8640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Kaku Gothic ProN"/>
              </a:rPr>
              <a:t>オプション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60120"/>
            <a:ext cx="256032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005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Kaku Gothic ProN"/>
              </a:rPr>
              <a:t>料金（税抜）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960120"/>
            <a:ext cx="3017520" cy="41148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0058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iragino Kaku Gothic ProN"/>
              </a:rPr>
              <a:t>備考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48640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エリア指定（渋谷・新宿・原宿・銀座等）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17320"/>
            <a:ext cx="25603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08760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¥5,000/日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508760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都心主要エリアのみ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93392"/>
            <a:ext cx="548640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0848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動画コンテンツ制作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993392"/>
            <a:ext cx="25603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0848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¥30,000〜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993392"/>
            <a:ext cx="30175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084832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15〜30秒ループ動画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69464"/>
            <a:ext cx="548640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609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静止画スライドショー制作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569464"/>
            <a:ext cx="25603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2660904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¥15,000〜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569464"/>
            <a:ext cx="30175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660904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メニュー写真+テキスト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45536"/>
            <a:ext cx="548640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369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SNS投稿レポート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145536"/>
            <a:ext cx="25603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236976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¥10,000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145536"/>
            <a:ext cx="30175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3236976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1日あたり拡散状況レポート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21608"/>
            <a:ext cx="548640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8130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効果測定レポート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3721608"/>
            <a:ext cx="25603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813048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¥20,000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721608"/>
            <a:ext cx="30175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813048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推定リーチ数・接触者数レポート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97680"/>
            <a:ext cx="548640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3891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急ぎ対応（翌日手配）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4297680"/>
            <a:ext cx="25603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4389120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¥8,000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4297680"/>
            <a:ext cx="30175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4389120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通常3営業日前→翌日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73752"/>
            <a:ext cx="548640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9651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キャンセル料（2〜3日前）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4873752"/>
            <a:ext cx="25603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496519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見積の50%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4873752"/>
            <a:ext cx="3017520" cy="548640"/>
          </a:xfrm>
          <a:prstGeom prst="rect">
            <a:avLst/>
          </a:prstGeom>
          <a:solidFill>
            <a:srgbClr val="12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4965192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悪天候は免除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449824"/>
            <a:ext cx="548640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5412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キャンセル料（前日）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5449824"/>
            <a:ext cx="25603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5541264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見積の80%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5449824"/>
            <a:ext cx="3017520" cy="54864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78240" y="5541264"/>
            <a:ext cx="2834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Hiragino Kaku Gothic ProN"/>
              </a:rPr>
              <a:t>悪天候は免除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Hiragino Kaku Gothic ProN"/>
              </a:rPr>
              <a:t>Backstage Inc.  |  Human Ad  |  Confidential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0" y="65105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Hiragino Kaku Gothic ProN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